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61a4cd8e3c4fcf" /><Relationship Type="http://schemas.openxmlformats.org/officeDocument/2006/relationships/extended-properties" Target="/docProps/app.xml" Id="R3eb508a1755a4e45" /><Relationship Type="http://schemas.openxmlformats.org/officeDocument/2006/relationships/officeDocument" Target="/ppt/presentation.xml" Id="R63fe01d4f26d43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734c74eda2548b6"/>
  </p:sldMasterIdLst>
  <p:notesMasterIdLst>
    <p:notesMasterId xmlns:r="http://schemas.openxmlformats.org/officeDocument/2006/relationships" r:id="R298a57808fc942d8"/>
  </p:notesMasterIdLst>
  <p:sldIdLst>
    <p:sldId xmlns:r="http://schemas.openxmlformats.org/officeDocument/2006/relationships" id="256" r:id="Rfa05c5d7d620472b"/>
    <p:sldId xmlns:r="http://schemas.openxmlformats.org/officeDocument/2006/relationships" id="257" r:id="Rec9f522d726944f9"/>
    <p:sldId xmlns:r="http://schemas.openxmlformats.org/officeDocument/2006/relationships" id="258" r:id="Rcc9437234fc6403e"/>
    <p:sldId xmlns:r="http://schemas.openxmlformats.org/officeDocument/2006/relationships" id="259" r:id="R23143c1e27c14fb8"/>
    <p:sldId xmlns:r="http://schemas.openxmlformats.org/officeDocument/2006/relationships" id="260" r:id="R6e539f1c7a1b4ec1"/>
    <p:sldId xmlns:r="http://schemas.openxmlformats.org/officeDocument/2006/relationships" id="261" r:id="R70724a1ad314459f"/>
    <p:sldId xmlns:r="http://schemas.openxmlformats.org/officeDocument/2006/relationships" id="262" r:id="R5504021fbcb74a60"/>
    <p:sldId xmlns:r="http://schemas.openxmlformats.org/officeDocument/2006/relationships" id="263" r:id="Re3f563940c35455a"/>
    <p:sldId xmlns:r="http://schemas.openxmlformats.org/officeDocument/2006/relationships" id="264" r:id="R5408c530fcdd417c"/>
    <p:sldId xmlns:r="http://schemas.openxmlformats.org/officeDocument/2006/relationships" id="265" r:id="R8d8615b5a67f4fec"/>
    <p:sldId xmlns:r="http://schemas.openxmlformats.org/officeDocument/2006/relationships" id="266" r:id="R695f24afc97d4c09"/>
    <p:sldId xmlns:r="http://schemas.openxmlformats.org/officeDocument/2006/relationships" id="267" r:id="R394fbc7332db476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3893d211c284c8b" /><Relationship Type="http://schemas.openxmlformats.org/officeDocument/2006/relationships/slideMaster" Target="/ppt/slideMasters/slideMaster1.xml" Id="Re734c74eda2548b6" /><Relationship Type="http://schemas.openxmlformats.org/officeDocument/2006/relationships/notesMaster" Target="/ppt/notesMasters/notesMaster1.xml" Id="R298a57808fc942d8" /><Relationship Type="http://schemas.openxmlformats.org/officeDocument/2006/relationships/presProps" Target="/ppt/presProps.xml" Id="R31187c2c2d494f44" /><Relationship Type="http://schemas.openxmlformats.org/officeDocument/2006/relationships/tableStyles" Target="/ppt/tableStyles.xml" Id="R48af12c1264c4e6d" /><Relationship Type="http://schemas.openxmlformats.org/officeDocument/2006/relationships/slide" Target="/ppt/slides/slide1.xml" Id="Rfa05c5d7d620472b" /><Relationship Type="http://schemas.openxmlformats.org/officeDocument/2006/relationships/slide" Target="/ppt/slides/slide2.xml" Id="Rec9f522d726944f9" /><Relationship Type="http://schemas.openxmlformats.org/officeDocument/2006/relationships/slide" Target="/ppt/slides/slide3.xml" Id="Rcc9437234fc6403e" /><Relationship Type="http://schemas.openxmlformats.org/officeDocument/2006/relationships/slide" Target="/ppt/slides/slide4.xml" Id="R23143c1e27c14fb8" /><Relationship Type="http://schemas.openxmlformats.org/officeDocument/2006/relationships/slide" Target="/ppt/slides/slide5.xml" Id="R6e539f1c7a1b4ec1" /><Relationship Type="http://schemas.openxmlformats.org/officeDocument/2006/relationships/slide" Target="/ppt/slides/slide6.xml" Id="R70724a1ad314459f" /><Relationship Type="http://schemas.openxmlformats.org/officeDocument/2006/relationships/slide" Target="/ppt/slides/slide7.xml" Id="R5504021fbcb74a60" /><Relationship Type="http://schemas.openxmlformats.org/officeDocument/2006/relationships/slide" Target="/ppt/slides/slide8.xml" Id="Re3f563940c35455a" /><Relationship Type="http://schemas.openxmlformats.org/officeDocument/2006/relationships/slide" Target="/ppt/slides/slide9.xml" Id="R5408c530fcdd417c" /><Relationship Type="http://schemas.openxmlformats.org/officeDocument/2006/relationships/slide" Target="/ppt/slides/slide10.xml" Id="R8d8615b5a67f4fec" /><Relationship Type="http://schemas.openxmlformats.org/officeDocument/2006/relationships/slide" Target="/ppt/slides/slide11.xml" Id="R695f24afc97d4c09" /><Relationship Type="http://schemas.openxmlformats.org/officeDocument/2006/relationships/slide" Target="/ppt/slides/slide12.xml" Id="R394fbc7332db47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76ca8da5e4b41e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522dd6df97c4af5" /><Relationship Type="http://schemas.openxmlformats.org/officeDocument/2006/relationships/notesMaster" Target="/ppt/notesMasters/notesMaster1.xml" Id="Rd63f0ddb5e6e480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2e876378bd94c4d" /><Relationship Type="http://schemas.openxmlformats.org/officeDocument/2006/relationships/notesMaster" Target="/ppt/notesMasters/notesMaster1.xml" Id="R3c01468348ed479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9bae2d417eb4ee8" /><Relationship Type="http://schemas.openxmlformats.org/officeDocument/2006/relationships/notesMaster" Target="/ppt/notesMasters/notesMaster1.xml" Id="Rd2f9409acf044d7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82fc62341d24916" /><Relationship Type="http://schemas.openxmlformats.org/officeDocument/2006/relationships/notesMaster" Target="/ppt/notesMasters/notesMaster1.xml" Id="R5bb7e5d8902a447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28dbf97315c4688" /><Relationship Type="http://schemas.openxmlformats.org/officeDocument/2006/relationships/notesMaster" Target="/ppt/notesMasters/notesMaster1.xml" Id="R3ff6036a1194425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3dd6effe3f54330" /><Relationship Type="http://schemas.openxmlformats.org/officeDocument/2006/relationships/notesMaster" Target="/ppt/notesMasters/notesMaster1.xml" Id="R77a0adb4c6ce41a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b7d1382474849ad" /><Relationship Type="http://schemas.openxmlformats.org/officeDocument/2006/relationships/notesMaster" Target="/ppt/notesMasters/notesMaster1.xml" Id="R4f814821373c461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8c6ceadf914421a" /><Relationship Type="http://schemas.openxmlformats.org/officeDocument/2006/relationships/notesMaster" Target="/ppt/notesMasters/notesMaster1.xml" Id="R0add472a4bd24a7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ebbd91fae0b405a" /><Relationship Type="http://schemas.openxmlformats.org/officeDocument/2006/relationships/notesMaster" Target="/ppt/notesMasters/notesMaster1.xml" Id="Rc8ad19e7d62c453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f0c2a4f52d34adc" /><Relationship Type="http://schemas.openxmlformats.org/officeDocument/2006/relationships/notesMaster" Target="/ppt/notesMasters/notesMaster1.xml" Id="Ref00819d105c49e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8edd19fa48c4974" /><Relationship Type="http://schemas.openxmlformats.org/officeDocument/2006/relationships/notesMaster" Target="/ppt/notesMasters/notesMaster1.xml" Id="Rae584c7d16064c4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e990448c7a84d02" /><Relationship Type="http://schemas.openxmlformats.org/officeDocument/2006/relationships/notesMaster" Target="/ppt/notesMasters/notesMaster1.xml" Id="R1011d78f831c45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c24215b0ab4f2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2d6ea5cecf4fcb" /><Relationship Type="http://schemas.openxmlformats.org/officeDocument/2006/relationships/slideLayout" Target="/ppt/slideLayouts/slideLayout1.xml" Id="R38f204ed1d4f48c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f204ed1d4f48c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e851d91e104461" /><Relationship Type="http://schemas.openxmlformats.org/officeDocument/2006/relationships/notesSlide" Target="/ppt/notesSlides/notesSlide1.xml" Id="Ra0a44e7c15c5450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38b690178b49bd" /><Relationship Type="http://schemas.openxmlformats.org/officeDocument/2006/relationships/notesSlide" Target="/ppt/notesSlides/notesSlide2.xml" Id="R70278efb604a480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468a95267846ed" /><Relationship Type="http://schemas.openxmlformats.org/officeDocument/2006/relationships/notesSlide" Target="/ppt/notesSlides/notesSlide3.xml" Id="R79945947137b4e0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404352c168471f" /><Relationship Type="http://schemas.openxmlformats.org/officeDocument/2006/relationships/notesSlide" Target="/ppt/notesSlides/notesSlide4.xml" Id="R2b7cbfd2b9bb481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ef4c1b40674c2d" /><Relationship Type="http://schemas.openxmlformats.org/officeDocument/2006/relationships/notesSlide" Target="/ppt/notesSlides/notesSlide5.xml" Id="R7adcccb7798b4ef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71edc6f64b485a" /><Relationship Type="http://schemas.openxmlformats.org/officeDocument/2006/relationships/notesSlide" Target="/ppt/notesSlides/notesSlide6.xml" Id="R766471dec08e4ac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b334fbab7e4995" /><Relationship Type="http://schemas.openxmlformats.org/officeDocument/2006/relationships/notesSlide" Target="/ppt/notesSlides/notesSlide7.xml" Id="Rfd7fb2f0c54b45b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2cc604eec443f0" /><Relationship Type="http://schemas.openxmlformats.org/officeDocument/2006/relationships/notesSlide" Target="/ppt/notesSlides/notesSlide8.xml" Id="Rd4d08032e87843b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5030e1f2754671" /><Relationship Type="http://schemas.openxmlformats.org/officeDocument/2006/relationships/notesSlide" Target="/ppt/notesSlides/notesSlide9.xml" Id="R3ed749fcfbf5444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9804e3687749f8" /><Relationship Type="http://schemas.openxmlformats.org/officeDocument/2006/relationships/image" Target="/ppt/media/image.jpeg" Id="R742ff40fa7b14d6c" /><Relationship Type="http://schemas.openxmlformats.org/officeDocument/2006/relationships/notesSlide" Target="/ppt/notesSlides/notesSlide10.xml" Id="R4c2be39e25f24c1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e555a6f0a64b79" /><Relationship Type="http://schemas.openxmlformats.org/officeDocument/2006/relationships/notesSlide" Target="/ppt/notesSlides/notesSlide11.xml" Id="R274d3ac307a24f3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9f14267b6d40f9" /><Relationship Type="http://schemas.openxmlformats.org/officeDocument/2006/relationships/notesSlide" Target="/ppt/notesSlides/notesSlide12.xml" Id="R68c2fdb57241475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A08910C-4019-41C2-864F-DC1B282E3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A3A526-9512-442D-A490-357CC417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AI Strategic Academy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592DA7-63C5-41D7-911D-2E20158C3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64008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8A94A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A94A6"/>
                </a:solidFill>
                <a:latin typeface="Aptos"/>
                <a:ea typeface="Aptos"/>
                <a:cs typeface="Aptos"/>
              </a:rPr>
              <a:t>Документы продукта + бренд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B1A0E4-8273-47CE-AB8F-158861FD8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008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D2C206-0E0F-40EC-B51C-23A8A2877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-11430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9F03B4-FA74-45F7-852D-80147DD86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6700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eyebrow-pill">
            <a:extLst xmlns:a="http://schemas.openxmlformats.org/drawingml/2006/main">
              <a:ext uri="{FF2B5EF4-FFF2-40B4-BE49-F238E27FC236}">
                <a16:creationId xmlns:a16="http://schemas.microsoft.com/office/drawing/2014/main" id="{77720BEE-978F-4E22-8046-EF04C0D20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4850"/>
            <a:ext cx="2190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9525">
            <a:solidFill>
              <a:srgbClr val="D9E2F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A449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A4494"/>
                </a:solidFill>
                <a:latin typeface="Aptos"/>
                <a:ea typeface="Aptos"/>
                <a:cs typeface="Aptos"/>
              </a:rPr>
              <a:t>ПИТЧ-ДЕК ДЛЯ ЗАКАЗЧИКА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53A45B-3837-4F96-868A-39CFED5A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14450"/>
            <a:ext cx="6858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A4494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40BAD4-0AD0-43AF-A3DE-484F397D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47900"/>
            <a:ext cx="723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AI Strategic Academy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6576B4-933D-4E5F-A5C6-5A011FAB5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723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Закрытая академическая платформа, где заказчик видит не только доступ к курсу, а весь управляемый результат обучения.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21BAAE-E7FE-4CAE-9AC7-CBC589EFC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00550"/>
            <a:ext cx="241935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7978ED-0525-48E6-9B02-85DB11243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9105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A4494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A4494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F6C43C-A949-4F8B-9A26-1464AC081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4350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ролей с разделением доступа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BF4E86-C12C-40EF-B552-C74F2E7C8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400550"/>
            <a:ext cx="241935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4F3FBA-F26E-4F05-91E5-BE50BF91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59105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06B5E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006B5E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E80F7F-2C2E-4506-A54B-A33AAC4C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4350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операционная правда по обучению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16E9DD-3842-45D1-9EF7-77CD115ED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400550"/>
            <a:ext cx="241935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B0310F-CA60-4428-9771-EE62065FB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59105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C2413B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C2413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DE1915-067F-4D43-AA14-B7207E62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14350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публичной саморегистрации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2FBAE2-6E79-4052-AEAC-8DA36182A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238250"/>
            <a:ext cx="2286000" cy="34290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8C66F3-670B-4F79-8C62-FF049BAA0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6954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A449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A4494"/>
                </a:solidFill>
                <a:latin typeface="Aptos"/>
                <a:ea typeface="Aptos"/>
                <a:cs typeface="Aptos"/>
              </a:rPr>
              <a:t>Курс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FC3587-C5FF-4A9A-95CD-424523398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2669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6B5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6B5E"/>
                </a:solidFill>
                <a:latin typeface="Aptos"/>
                <a:ea typeface="Aptos"/>
                <a:cs typeface="Aptos"/>
              </a:rPr>
              <a:t>Модуль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0FE694-05E4-4D11-8431-45D84D281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384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A449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A4494"/>
                </a:solidFill>
                <a:latin typeface="Aptos"/>
                <a:ea typeface="Aptos"/>
                <a:cs typeface="Aptos"/>
              </a:rPr>
              <a:t>Урок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F30935-93AC-4073-81C2-10090C307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4099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6B5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6B5E"/>
                </a:solidFill>
                <a:latin typeface="Aptos"/>
                <a:ea typeface="Aptos"/>
                <a:cs typeface="Aptos"/>
              </a:rPr>
              <a:t>Отчет</a:t>
            </a:r>
          </a:p>
        </p:txBody>
      </p:sp>
      <p:sp>
        <p:nvSpPr>
          <p:cNvPr id="25" name="connector">
            <a:extLst xmlns:a="http://schemas.openxmlformats.org/drawingml/2006/main">
              <a:ext uri="{FF2B5EF4-FFF2-40B4-BE49-F238E27FC236}">
                <a16:creationId xmlns:a16="http://schemas.microsoft.com/office/drawing/2014/main" id="{CA127362-A25D-4D4D-AC45-C5F482B70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038350"/>
            <a:ext cx="0" cy="200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A"/>
            </a:solidFill>
            <a:prstDash val="solid"/>
          </a:ln>
        </p:spPr>
      </p:sp>
      <p:sp>
        <p:nvSpPr>
          <p:cNvPr id="26" name="connector">
            <a:extLst xmlns:a="http://schemas.openxmlformats.org/drawingml/2006/main">
              <a:ext uri="{FF2B5EF4-FFF2-40B4-BE49-F238E27FC236}">
                <a16:creationId xmlns:a16="http://schemas.microsoft.com/office/drawing/2014/main" id="{911E5A9B-1AFC-4F05-B3D8-73651590B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609850"/>
            <a:ext cx="0" cy="200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A"/>
            </a:solidFill>
            <a:prstDash val="solid"/>
          </a:ln>
        </p:spPr>
      </p:sp>
      <p:sp>
        <p:nvSpPr>
          <p:cNvPr id="27" name="connector">
            <a:extLst xmlns:a="http://schemas.openxmlformats.org/drawingml/2006/main">
              <a:ext uri="{FF2B5EF4-FFF2-40B4-BE49-F238E27FC236}">
                <a16:creationId xmlns:a16="http://schemas.microsoft.com/office/drawing/2014/main" id="{D404F1DB-DA45-4452-AAAF-5D407FB0C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181350"/>
            <a:ext cx="0" cy="200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FB2218-E81A-49D9-B0A7-0536A43D6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95300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Для заказчиков обучения, которым нужна прозрачность прогресса, сертификатов и сопровождения.</a:t>
            </a:r>
          </a:p>
        </p:txBody>
      </p:sp>
    </p:spTree>
    <p:extLst>
      <p:ext uri="{BB962C8B-B14F-4D97-AF65-F5344CB8AC3E}">
        <p14:creationId xmlns:p14="http://schemas.microsoft.com/office/powerpoint/2010/main" val="12281078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10F7607-5D9E-4F00-BBC5-68324E35F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21B49-3F37-4ABB-AE88-CAC0046A5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AI Strategic Academy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E3D6C3-0BAE-4A1A-9E12-CAEB05BEE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64008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8A94A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A94A6"/>
                </a:solidFill>
                <a:latin typeface="Aptos"/>
                <a:ea typeface="Aptos"/>
                <a:cs typeface="Aptos"/>
              </a:rPr>
              <a:t>Коммерческий контекст + документы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03DDCE-7017-417C-BA4C-85A8C2B09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008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eyebrow-pill">
            <a:extLst xmlns:a="http://schemas.openxmlformats.org/drawingml/2006/main">
              <a:ext uri="{FF2B5EF4-FFF2-40B4-BE49-F238E27FC236}">
                <a16:creationId xmlns:a16="http://schemas.microsoft.com/office/drawing/2014/main" id="{C52BE32A-F685-404D-90D6-C228DB2AF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2190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9525">
            <a:solidFill>
              <a:srgbClr val="D9E2F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A449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A4494"/>
                </a:solidFill>
                <a:latin typeface="Aptos"/>
                <a:ea typeface="Aptos"/>
                <a:cs typeface="Aptos"/>
              </a:rPr>
              <a:t>ПРОБЛЕМА ЗАКАЗЧИКА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F9C73C2-ADE5-4AAE-B6D4-AF08AA026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5850"/>
            <a:ext cx="8953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Когда обучение оплачено, заказчику нужна управляемость, а не набор разрозненных артефактов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08312FC-3015-4F5A-99D2-3B8C9B001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Типовой контур распадается между LMS, таблицами, чатами, ручными отчетами и неочевидным статусом слушателей.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477033-8E1D-477F-AFBD-09DB1345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2343150" cy="179070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320A42-90B0-4794-B884-10D1791E4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28950"/>
            <a:ext cx="1924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2413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2413B"/>
                </a:solidFill>
                <a:latin typeface="Aptos"/>
                <a:ea typeface="Aptos"/>
                <a:cs typeface="Aptos"/>
              </a:rPr>
              <a:t>разрыв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3F4F11-4FDF-44A2-BDFD-0F154A2FB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147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LMS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21E6AE-1606-4339-9C28-F0A94BAE1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90950"/>
            <a:ext cx="1924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курс открыт, но не видно операционного риска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31C469-A992-49A4-B741-36C788C0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57500"/>
            <a:ext cx="2343150" cy="179070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FBFDFF"/>
          </a:solidFill>
          <a:ln xmlns:a="http://schemas.openxmlformats.org/drawingml/2006/main" w="9525">
            <a:solidFill>
              <a:srgbClr val="D7DE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06BA6A-D1A2-4A19-93B5-57727CEF9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028950"/>
            <a:ext cx="1924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2413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2413B"/>
                </a:solidFill>
                <a:latin typeface="Aptos"/>
                <a:ea typeface="Aptos"/>
                <a:cs typeface="Aptos"/>
              </a:rPr>
              <a:t>разрыв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BF1B4F-6A79-4A90-BFC4-538A034F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3147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Таблицы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9118FF-84F4-42A1-BD80-4D7CBE53E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790950"/>
            <a:ext cx="1924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отчеты собираются вручную и быстро устаревают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023A8C-66C2-4D81-88BB-FA8278132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57500"/>
            <a:ext cx="2343150" cy="179070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6A9CC2-57BB-442C-99B1-662B3CA75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28950"/>
            <a:ext cx="1924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2413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2413B"/>
                </a:solidFill>
                <a:latin typeface="Aptos"/>
                <a:ea typeface="Aptos"/>
                <a:cs typeface="Aptos"/>
              </a:rPr>
              <a:t>разрыв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A8739B-BA64-4652-B454-DCE883A63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147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Чаты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E7CC52-EC5B-4A8B-B728-2E0B49DE8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90950"/>
            <a:ext cx="1924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вопросы и ответы выпадают из учебного контекста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C8A8F4-BC96-4530-B540-4B6117116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57500"/>
            <a:ext cx="2343150" cy="179070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FBFDFF"/>
          </a:solidFill>
          <a:ln xmlns:a="http://schemas.openxmlformats.org/drawingml/2006/main" w="9525">
            <a:solidFill>
              <a:srgbClr val="D7DE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18FF40-CB69-482B-A943-470C45F3E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28950"/>
            <a:ext cx="1924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2413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2413B"/>
                </a:solidFill>
                <a:latin typeface="Aptos"/>
                <a:ea typeface="Aptos"/>
                <a:cs typeface="Aptos"/>
              </a:rPr>
              <a:t>разрыв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D8EC72-8C22-4A5E-83F6-99B3A02CD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3147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Сертификаты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AC2D32-C3EA-47BB-98B4-FD5650F83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790950"/>
            <a:ext cx="1924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итог сложно проверить и связать с потоком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C45BDA-0BED-4D39-8208-466536E79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010150"/>
            <a:ext cx="9220200" cy="876300"/>
          </a:xfrm>
          <a:prstGeom xmlns:a="http://schemas.openxmlformats.org/drawingml/2006/main" prst="roundRect">
            <a:avLst>
              <a:gd name="adj" fmla="val 23913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1E4D8E-D5FC-4454-A3B0-772D565B1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1970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Покупатель платформы получает контроль цепочки: доступ, прохождение, сопровождение, отчетность и подтвержденный результат.</a:t>
            </a:r>
          </a:p>
        </p:txBody>
      </p:sp>
    </p:spTree>
    <p:extLst>
      <p:ext uri="{BB962C8B-B14F-4D97-AF65-F5344CB8AC3E}">
        <p14:creationId xmlns:p14="http://schemas.microsoft.com/office/powerpoint/2010/main" val="13160781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F555BDB-E5E0-426C-9EC7-0877D73D8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25D55B-E29E-4C1F-A3FA-66DE0FDAB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AI Strategic Academy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F30E50-6C96-4EBE-A5F1-6D1D51923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64008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8A94A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A94A6"/>
                </a:solidFill>
                <a:latin typeface="Aptos"/>
                <a:ea typeface="Aptos"/>
                <a:cs typeface="Aptos"/>
              </a:rPr>
              <a:t>Функциональное описание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B407EE-37B3-4EB5-AB0B-5BD53B5E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008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eyebrow-pill">
            <a:extLst xmlns:a="http://schemas.openxmlformats.org/drawingml/2006/main">
              <a:ext uri="{FF2B5EF4-FFF2-40B4-BE49-F238E27FC236}">
                <a16:creationId xmlns:a16="http://schemas.microsoft.com/office/drawing/2014/main" id="{7898E311-15BB-4522-A518-ECA85BCCA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9525">
            <a:solidFill>
              <a:srgbClr val="D9E2F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A449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A4494"/>
                </a:solidFill>
                <a:latin typeface="Aptos"/>
                <a:ea typeface="Aptos"/>
                <a:cs typeface="Aptos"/>
              </a:rPr>
              <a:t>РЕШЕНИЕ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0C9BEE2-F20B-4918-936F-0FF174CC3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5850"/>
            <a:ext cx="8001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Один путь студента. Один контекст курса. Одна операционная правда.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0F0ED4B-B835-4C04-A076-7C6C0556C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Платформа соединяет учебный процесс и управленческий контроль в единую цепочку.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3F49AF-7712-4AD2-97B4-217562955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1428750" cy="14287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9525">
            <a:solidFill>
              <a:srgbClr val="D9E2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E8BA00-2D1A-4917-BE26-9FD8D1515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004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A4494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A4494"/>
                </a:solidFill>
                <a:latin typeface="Aptos Display"/>
                <a:ea typeface="Aptos Display"/>
                <a:cs typeface="Aptos Display"/>
              </a:rPr>
              <a:t>Курс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EF08B4-78B7-4236-9896-1CCC1C15A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62350"/>
            <a:ext cx="123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структура программы</a:t>
            </a:r>
          </a:p>
        </p:txBody>
      </p:sp>
      <p:sp>
        <p:nvSpPr>
          <p:cNvPr id="11" name="connector">
            <a:extLst xmlns:a="http://schemas.openxmlformats.org/drawingml/2006/main">
              <a:ext uri="{FF2B5EF4-FFF2-40B4-BE49-F238E27FC236}">
                <a16:creationId xmlns:a16="http://schemas.microsoft.com/office/drawing/2014/main" id="{25F0391E-BB8B-4ED1-8448-1FC8AB35E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6290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A449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A09BA3-7882-4362-A611-548C5CBA9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914650"/>
            <a:ext cx="1428750" cy="14287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8F7F3"/>
          </a:solidFill>
          <a:ln xmlns:a="http://schemas.openxmlformats.org/drawingml/2006/main" w="9525">
            <a:solidFill>
              <a:srgbClr val="B9E6D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9008DD-28CD-4C95-A380-2C3DCB577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2004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6B5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06B5E"/>
                </a:solidFill>
                <a:latin typeface="Aptos Display"/>
                <a:ea typeface="Aptos Display"/>
                <a:cs typeface="Aptos Display"/>
              </a:rPr>
              <a:t>Урок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E4C618-895D-4321-9AE3-729E3F1A5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562350"/>
            <a:ext cx="123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контент и прогресс</a:t>
            </a:r>
          </a:p>
        </p:txBody>
      </p:sp>
      <p:sp>
        <p:nvSpPr>
          <p:cNvPr id="15" name="connector">
            <a:extLst xmlns:a="http://schemas.openxmlformats.org/drawingml/2006/main">
              <a:ext uri="{FF2B5EF4-FFF2-40B4-BE49-F238E27FC236}">
                <a16:creationId xmlns:a16="http://schemas.microsoft.com/office/drawing/2014/main" id="{7B2AB4F2-CD61-402D-85DD-5EC6187D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6290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A449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A957BE-9B19-4F5C-9A93-718155E98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914650"/>
            <a:ext cx="1428750" cy="14287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9525">
            <a:solidFill>
              <a:srgbClr val="D9E2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C81865-3382-4548-9F17-D0ED6DE3E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004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A4494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A4494"/>
                </a:solidFill>
                <a:latin typeface="Aptos Display"/>
                <a:ea typeface="Aptos Display"/>
                <a:cs typeface="Aptos Display"/>
              </a:rPr>
              <a:t>Задание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49878E-D820-4F30-8736-8B411B80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62350"/>
            <a:ext cx="123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практика и проверка</a:t>
            </a:r>
          </a:p>
        </p:txBody>
      </p:sp>
      <p:sp>
        <p:nvSpPr>
          <p:cNvPr id="19" name="connector">
            <a:extLst xmlns:a="http://schemas.openxmlformats.org/drawingml/2006/main">
              <a:ext uri="{FF2B5EF4-FFF2-40B4-BE49-F238E27FC236}">
                <a16:creationId xmlns:a16="http://schemas.microsoft.com/office/drawing/2014/main" id="{14001166-BF34-4835-8AC2-270C5A22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6290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A449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BB544B-182B-4C0E-B37A-9DD65DF68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914650"/>
            <a:ext cx="1428750" cy="14287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8F7F3"/>
          </a:solidFill>
          <a:ln xmlns:a="http://schemas.openxmlformats.org/drawingml/2006/main" w="9525">
            <a:solidFill>
              <a:srgbClr val="B9E6D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2A0E8C-F6B8-4D0F-BB03-785C376C5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004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6B5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06B5E"/>
                </a:solidFill>
                <a:latin typeface="Aptos Display"/>
                <a:ea typeface="Aptos Display"/>
                <a:cs typeface="Aptos Display"/>
              </a:rPr>
              <a:t>Риск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DDF7D6-15E8-4721-ADA4-4D55E091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562350"/>
            <a:ext cx="123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ранний сигнал отставания</a:t>
            </a:r>
          </a:p>
        </p:txBody>
      </p:sp>
      <p:sp>
        <p:nvSpPr>
          <p:cNvPr id="23" name="connector">
            <a:extLst xmlns:a="http://schemas.openxmlformats.org/drawingml/2006/main">
              <a:ext uri="{FF2B5EF4-FFF2-40B4-BE49-F238E27FC236}">
                <a16:creationId xmlns:a16="http://schemas.microsoft.com/office/drawing/2014/main" id="{67E5D3A0-F575-4BE4-8BC8-4F2027BFB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290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A449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B26510-6D75-4BD1-8B9D-00E26D1F2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914650"/>
            <a:ext cx="1428750" cy="14287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9525">
            <a:solidFill>
              <a:srgbClr val="D9E2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0F8875-490F-49C7-ADE5-B704CAD96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004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A4494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A4494"/>
                </a:solidFill>
                <a:latin typeface="Aptos Display"/>
                <a:ea typeface="Aptos Display"/>
                <a:cs typeface="Aptos Display"/>
              </a:rPr>
              <a:t>Отчет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BF1FEC-EA1F-4DA8-8A51-6896454FD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62350"/>
            <a:ext cx="123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картина для ролей</a:t>
            </a:r>
          </a:p>
        </p:txBody>
      </p:sp>
      <p:sp>
        <p:nvSpPr>
          <p:cNvPr id="27" name="connector">
            <a:extLst xmlns:a="http://schemas.openxmlformats.org/drawingml/2006/main">
              <a:ext uri="{FF2B5EF4-FFF2-40B4-BE49-F238E27FC236}">
                <a16:creationId xmlns:a16="http://schemas.microsoft.com/office/drawing/2014/main" id="{25DA8D9F-FD60-4D26-8C32-55D9B14A9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6290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A449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7C9416-F866-4246-9B08-8E88A4D66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914650"/>
            <a:ext cx="1428750" cy="14287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8F7F3"/>
          </a:solidFill>
          <a:ln xmlns:a="http://schemas.openxmlformats.org/drawingml/2006/main" w="9525">
            <a:solidFill>
              <a:srgbClr val="B9E6D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DBC8F4-59C7-4175-A99F-144CA2DD8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2004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6B5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06B5E"/>
                </a:solidFill>
                <a:latin typeface="Aptos Display"/>
                <a:ea typeface="Aptos Display"/>
                <a:cs typeface="Aptos Display"/>
              </a:rPr>
              <a:t>Сертификат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D6E277-4DA6-4010-AF52-D6C2C7D4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62350"/>
            <a:ext cx="123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проверяемый результат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95ED6A-5088-48F4-AB26-90F0FCB12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914900"/>
            <a:ext cx="9067800" cy="723900"/>
          </a:xfrm>
          <a:prstGeom xmlns:a="http://schemas.openxmlformats.org/drawingml/2006/main" prst="roundRect">
            <a:avLst>
              <a:gd name="adj" fmla="val 289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8A5E710-D798-4069-AB2C-559FC33C8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124450"/>
            <a:ext cx="826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Заказчик видит не отдельные страницы, а процесс: кто учится, кто отстает, кто получил помощь, какие результаты подтверждены.</a:t>
            </a:r>
          </a:p>
        </p:txBody>
      </p:sp>
    </p:spTree>
    <p:extLst>
      <p:ext uri="{BB962C8B-B14F-4D97-AF65-F5344CB8AC3E}">
        <p14:creationId xmlns:p14="http://schemas.microsoft.com/office/powerpoint/2010/main" val="6828265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E7EAF37-0C8E-48E3-951D-4E9AD4239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000788-134C-4903-921D-E57CBC67C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AI Strategic Academy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84A3F7-5ADD-4417-AA46-7F6D99F0B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64008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8A94A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A94A6"/>
                </a:solidFill>
                <a:latin typeface="Aptos"/>
                <a:ea typeface="Aptos"/>
                <a:cs typeface="Aptos"/>
              </a:rPr>
              <a:t>Документы продукта + бренд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2E0B93-5DB0-432A-AB4C-D83C4BA11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008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eyebrow-pill">
            <a:extLst xmlns:a="http://schemas.openxmlformats.org/drawingml/2006/main">
              <a:ext uri="{FF2B5EF4-FFF2-40B4-BE49-F238E27FC236}">
                <a16:creationId xmlns:a16="http://schemas.microsoft.com/office/drawing/2014/main" id="{F6F2CE78-7718-4677-BD7D-FC7BC2F47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2000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9525">
            <a:solidFill>
              <a:srgbClr val="D9E2F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A449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A4494"/>
                </a:solidFill>
                <a:latin typeface="Aptos"/>
                <a:ea typeface="Aptos"/>
                <a:cs typeface="Aptos"/>
              </a:rPr>
              <a:t>ПАКЕТ ЦЕННОСТИ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93A9714-FB5D-4F33-97C7-44CDBA648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5850"/>
            <a:ext cx="7524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Что получает заказчик после оплаты платформы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3C84240-996E-49A6-83E0-6B859A1B6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Не просто доступ к LMS, а готовый контур закрытой академии с ролями, потоками, отчетами и проверяемым итогом.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9965A8-90BD-4239-8F6D-25F50594B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05100"/>
            <a:ext cx="3143250" cy="1200150"/>
          </a:xfrm>
          <a:prstGeom xmlns:a="http://schemas.openxmlformats.org/drawingml/2006/main" prst="roundRect">
            <a:avLst>
              <a:gd name="adj" fmla="val 158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F71D91-2B01-4205-BE79-DBAE1C50D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95600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A4494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A449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FCCF94-978D-43D5-942E-E27038C99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76550"/>
            <a:ext cx="1943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Закрытый доступ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64F2F4-91A3-4928-B237-275A63F1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718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аккаунты, инвайты, роли, лимит устройств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D22F06-ED74-4FDD-AB5D-22060DEA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05100"/>
            <a:ext cx="3143250" cy="1200150"/>
          </a:xfrm>
          <a:prstGeom xmlns:a="http://schemas.openxmlformats.org/drawingml/2006/main" prst="roundRect">
            <a:avLst>
              <a:gd name="adj" fmla="val 158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82C89E-CE51-4A45-9489-7F437D88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95600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6B5E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06B5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A34606-0915-4397-A058-BBCB97017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76550"/>
            <a:ext cx="1943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Учебный контур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8771A7-7FA0-4074-AED4-BAE94BF2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718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курсы, модули, уроки, тесты, задания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655949-9D41-4BA5-AAC4-FE6940FC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05100"/>
            <a:ext cx="3143250" cy="1200150"/>
          </a:xfrm>
          <a:prstGeom xmlns:a="http://schemas.openxmlformats.org/drawingml/2006/main" prst="roundRect">
            <a:avLst>
              <a:gd name="adj" fmla="val 158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22C14A-6C7F-45E5-87C4-BE6DD985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95600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A4494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A449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DDAC07-60CE-4247-9203-1519E9123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876550"/>
            <a:ext cx="1943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Когорты и дедлайны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42D301-70CB-4402-A10A-50903D59B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3718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потоки обучения и контроль сроков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D792B2-98D1-40B9-98A7-08A6D20E0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91000"/>
            <a:ext cx="3143250" cy="1200150"/>
          </a:xfrm>
          <a:prstGeom xmlns:a="http://schemas.openxmlformats.org/drawingml/2006/main" prst="roundRect">
            <a:avLst>
              <a:gd name="adj" fmla="val 15873"/>
            </a:avLst>
          </a:prstGeom>
          <a:solidFill xmlns:a="http://schemas.openxmlformats.org/drawingml/2006/main">
            <a:srgbClr val="FBFFFD"/>
          </a:solidFill>
          <a:ln xmlns:a="http://schemas.openxmlformats.org/drawingml/2006/main" w="9525">
            <a:solidFill>
              <a:srgbClr val="D7DE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C65934-CA05-4019-BA9E-838CD290D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0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A4494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A449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8303F9-BD09-4800-B94B-39911B32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62450"/>
            <a:ext cx="1943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Кураторская поддержка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382B84-F32E-49CC-8487-9DC128C81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577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вопросы, проверки, риски и SLA-очереди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944C5A-4B02-4BCF-BE42-00A131431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191000"/>
            <a:ext cx="3143250" cy="1200150"/>
          </a:xfrm>
          <a:prstGeom xmlns:a="http://schemas.openxmlformats.org/drawingml/2006/main" prst="roundRect">
            <a:avLst>
              <a:gd name="adj" fmla="val 15873"/>
            </a:avLst>
          </a:prstGeom>
          <a:solidFill xmlns:a="http://schemas.openxmlformats.org/drawingml/2006/main">
            <a:srgbClr val="FBFFFD"/>
          </a:solidFill>
          <a:ln xmlns:a="http://schemas.openxmlformats.org/drawingml/2006/main" w="9525">
            <a:solidFill>
              <a:srgbClr val="D7DE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11EF7A-BA32-443C-9A25-977918D33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381500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6B5E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06B5E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959532-4BC5-41EE-9F42-B10255C08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362450"/>
            <a:ext cx="1943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Отчеты заказчика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069397-CEB4-4AD4-A7B8-7314E21E8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8577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прогресс только на чтение, сертификаты, выгрузки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361D21-8294-4C4D-93CE-9CC059B04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191000"/>
            <a:ext cx="3143250" cy="1200150"/>
          </a:xfrm>
          <a:prstGeom xmlns:a="http://schemas.openxmlformats.org/drawingml/2006/main" prst="roundRect">
            <a:avLst>
              <a:gd name="adj" fmla="val 15873"/>
            </a:avLst>
          </a:prstGeom>
          <a:solidFill xmlns:a="http://schemas.openxmlformats.org/drawingml/2006/main">
            <a:srgbClr val="FBFFFD"/>
          </a:solidFill>
          <a:ln xmlns:a="http://schemas.openxmlformats.org/drawingml/2006/main" w="9525">
            <a:solidFill>
              <a:srgbClr val="D7DE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D93DD8-5D2E-4266-9E98-A6072C602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81500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A4494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A4494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532927-6309-4808-90CE-9C258B469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362450"/>
            <a:ext cx="1943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Брендирование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22FF3B-FEF4-435E-AC44-31493220E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8577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бренд, PWA и публичные поверхности</a:t>
            </a:r>
          </a:p>
        </p:txBody>
      </p:sp>
    </p:spTree>
    <p:extLst>
      <p:ext uri="{BB962C8B-B14F-4D97-AF65-F5344CB8AC3E}">
        <p14:creationId xmlns:p14="http://schemas.microsoft.com/office/powerpoint/2010/main" val="16641792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738D568-EDAB-4C73-8FC3-3F83A425E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19F36E-8731-480D-8864-08CD5EED8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AI Strategic Academy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CF4747-55D8-404A-ABF1-0E0EE05D2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64008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8A94A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A94A6"/>
                </a:solidFill>
                <a:latin typeface="Aptos"/>
                <a:ea typeface="Aptos"/>
                <a:cs typeface="Aptos"/>
              </a:rPr>
              <a:t>Документы продукта + спецификация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A23FE6-5BE3-4256-8FC9-203F8C6A9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008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eyebrow-pill">
            <a:extLst xmlns:a="http://schemas.openxmlformats.org/drawingml/2006/main">
              <a:ext uri="{FF2B5EF4-FFF2-40B4-BE49-F238E27FC236}">
                <a16:creationId xmlns:a16="http://schemas.microsoft.com/office/drawing/2014/main" id="{A37573BD-5674-486B-9CBE-60ACEDD0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2000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9525">
            <a:solidFill>
              <a:srgbClr val="D9E2F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A449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A4494"/>
                </a:solidFill>
                <a:latin typeface="Aptos"/>
                <a:ea typeface="Aptos"/>
                <a:cs typeface="Aptos"/>
              </a:rPr>
              <a:t>ПУТЬ СЛУШАТЕЛЯ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4C36A4B-CE61-4F19-9916-3EEB4E211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5850"/>
            <a:ext cx="8286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Слушатель проходит обучение без переключения между разными системами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016AD70-8813-4655-B45C-A3310AD6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Основной сценарий собран в одном учебном плеере: материал, проверка, вопрос, обратная связь и прогресс.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54C8EF-A963-4BE8-9161-8C902C39D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4705350" cy="3124200"/>
          </a:xfrm>
          <a:prstGeom xmlns:a="http://schemas.openxmlformats.org/drawingml/2006/main" prst="roundRect">
            <a:avLst>
              <a:gd name="adj" fmla="val 85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FD1743-0370-458F-9543-B9BE6C83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194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A4494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A4494"/>
                </a:solidFill>
                <a:latin typeface="Aptos Display"/>
                <a:ea typeface="Aptos Display"/>
                <a:cs typeface="Aptos Display"/>
              </a:rPr>
              <a:t>Единый плеер урока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BF938E-A155-4C1A-8E3A-7F35D58CF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004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Все учебные действия собраны рядом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FE9C93-BC8A-4122-AC2C-B94AA51B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623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F3"/>
          </a:solidFill>
          <a:ln xmlns:a="http://schemas.openxmlformats.org/drawingml/2006/main" w="9525">
            <a:solidFill>
              <a:srgbClr val="00857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CBDE5D-21F2-41EE-9245-1275C0942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33800"/>
            <a:ext cx="3486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видео, текст и файлы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EE2077-91FD-477D-A4EA-55DC278DF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052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F3"/>
          </a:solidFill>
          <a:ln xmlns:a="http://schemas.openxmlformats.org/drawingml/2006/main" w="9525">
            <a:solidFill>
              <a:srgbClr val="00857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EB6A98-5197-447B-9525-245B983F4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76700"/>
            <a:ext cx="3486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тест внутри учебного контекста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BAAEFD-2A27-42BF-BF4B-F71BA4B82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481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F3"/>
          </a:solidFill>
          <a:ln xmlns:a="http://schemas.openxmlformats.org/drawingml/2006/main" w="9525">
            <a:solidFill>
              <a:srgbClr val="00857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A8D8B6-2C0B-4883-A0ED-7D00298D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19600"/>
            <a:ext cx="3486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домашнее задание и обратная связь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43EDF2-FEAA-405A-B808-F2E19581D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910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F3"/>
          </a:solidFill>
          <a:ln xmlns:a="http://schemas.openxmlformats.org/drawingml/2006/main" w="9525">
            <a:solidFill>
              <a:srgbClr val="00857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08BE8B-946F-4A5C-A01F-68EE477B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62500"/>
            <a:ext cx="3486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вопрос куратору прямо из урока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D2A0BC-382C-4594-A700-FEE2EA487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339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F3"/>
          </a:solidFill>
          <a:ln xmlns:a="http://schemas.openxmlformats.org/drawingml/2006/main" w="9525">
            <a:solidFill>
              <a:srgbClr val="00857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9EE537-838D-4FF2-BE23-8BE5C573F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05400"/>
            <a:ext cx="3486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рейтинг и завершение урока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116D5C-0B5D-4DF2-8611-67810F12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19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3FF"/>
          </a:solidFill>
          <a:ln xmlns:a="http://schemas.openxmlformats.org/drawingml/2006/main" w="9525">
            <a:solidFill>
              <a:srgbClr val="D9E2F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A4494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A4494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49A80A-2F8A-45CD-9BD8-496E01046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81250"/>
            <a:ext cx="422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Продолжить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8D0B3C-2A28-4C7B-8268-52DB69DE4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667000"/>
            <a:ext cx="422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последнее доступное место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ED3197-685B-4742-B730-6119004FE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0861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F3"/>
          </a:solidFill>
          <a:ln xmlns:a="http://schemas.openxmlformats.org/drawingml/2006/main" w="9525">
            <a:solidFill>
              <a:srgbClr val="D9E2F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6B5E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06B5E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1ABDB6-2020-4AF1-9FE5-C4963BC93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048000"/>
            <a:ext cx="422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Пройти урок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CAF16A-0526-4868-8E4F-78787F848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333750"/>
            <a:ext cx="422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материал и активность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0E7C2D-0EFD-4CEE-918E-DE73D677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7528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3FF"/>
          </a:solidFill>
          <a:ln xmlns:a="http://schemas.openxmlformats.org/drawingml/2006/main" w="9525">
            <a:solidFill>
              <a:srgbClr val="D9E2F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A4494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A4494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C15572-43C5-4FA3-920A-4E03F72BD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14750"/>
            <a:ext cx="422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Сдать работу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9D8AA4-C479-4211-80BA-99359486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000500"/>
            <a:ext cx="422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тест или задание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B5AC91-FDA2-4A64-93BA-C39207419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419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F3"/>
          </a:solidFill>
          <a:ln xmlns:a="http://schemas.openxmlformats.org/drawingml/2006/main" w="9525">
            <a:solidFill>
              <a:srgbClr val="D9E2F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6B5E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06B5E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322C53-EE39-4463-A8F9-814FDD3C8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381500"/>
            <a:ext cx="422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Получить ответ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A2AE13C-61BF-4E1A-B60D-15AD82FEC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667250"/>
            <a:ext cx="422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куратор в контексте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585A78-2CA0-43D2-B014-B44D4D43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086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3FF"/>
          </a:solidFill>
          <a:ln xmlns:a="http://schemas.openxmlformats.org/drawingml/2006/main" w="9525">
            <a:solidFill>
              <a:srgbClr val="D9E2F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A4494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A4494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B134610-6651-4558-955F-B70FC62DC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048250"/>
            <a:ext cx="422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Завершить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98ED16-004D-42CD-A405-0CEDF239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334000"/>
            <a:ext cx="422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прогресс и сертификат</a:t>
            </a:r>
          </a:p>
        </p:txBody>
      </p:sp>
    </p:spTree>
    <p:extLst>
      <p:ext uri="{BB962C8B-B14F-4D97-AF65-F5344CB8AC3E}">
        <p14:creationId xmlns:p14="http://schemas.microsoft.com/office/powerpoint/2010/main" val="7781065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3ABDD06-504E-4A4C-A1F9-7FFA1D738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85DE27-3A57-4CC4-AAB1-F91893642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AI Strategic Academy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558B49-E31B-4283-9981-278453331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64008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8A94A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A94A6"/>
                </a:solidFill>
                <a:latin typeface="Aptos"/>
                <a:ea typeface="Aptos"/>
                <a:cs typeface="Aptos"/>
              </a:rPr>
              <a:t>Функциональное описание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0B73D6-4532-41A4-9EFD-08A3171AD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008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eyebrow-pill">
            <a:extLst xmlns:a="http://schemas.openxmlformats.org/drawingml/2006/main">
              <a:ext uri="{FF2B5EF4-FFF2-40B4-BE49-F238E27FC236}">
                <a16:creationId xmlns:a16="http://schemas.microsoft.com/office/drawing/2014/main" id="{00831CBD-0A5F-4120-917E-D9BFF43A5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23336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9525">
            <a:solidFill>
              <a:srgbClr val="D9E2F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A449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A4494"/>
                </a:solidFill>
                <a:latin typeface="Aptos"/>
                <a:ea typeface="Aptos"/>
                <a:cs typeface="Aptos"/>
              </a:rPr>
              <a:t>ОПЕРАЦИОННАЯ МОДЕЛЬ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ABEE536-82CA-4845-9F20-E75A72889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5850"/>
            <a:ext cx="8191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Команда академии получает операционный контур по ролям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B0C71E0-26FD-4449-B45E-C600D82E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Каждая роль видит свой рабочий кабинет и действует в пределах ответственности.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592ACA-BF92-450F-98AE-709A7EB08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2343150" cy="179070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B22083-188F-4CE5-978C-6E36F3C6F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480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4494"/>
          </a:solidFill>
          <a:ln xmlns:a="http://schemas.openxmlformats.org/drawingml/2006/main" w="9525">
            <a:solidFill>
              <a:srgbClr val="1A449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751022-1B00-4CC9-968E-D23F632B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76650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Администратор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E71755-2B31-4A13-A175-30AFF787D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38600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курсы, пользователи, потоки, аудит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AB9151-23CA-416F-8E4F-1F841427C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781300"/>
            <a:ext cx="2343150" cy="179070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C0A293-B59B-42EB-BF9E-944ED4D49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480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B5E"/>
          </a:solidFill>
          <a:ln xmlns:a="http://schemas.openxmlformats.org/drawingml/2006/main" w="9525">
            <a:solidFill>
              <a:srgbClr val="006B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B479F2-3C42-4B67-9AC9-BF352F30C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676650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Преподаватель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62F50E-D32D-42BE-A2AC-E90B0919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038600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контент, тесты, задания, экспертные ответы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CD858E-3F9B-41BE-B970-73610EB7D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81300"/>
            <a:ext cx="2343150" cy="179070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2784BD-3026-4023-8D81-1D63CDE4A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480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52A3"/>
          </a:solidFill>
          <a:ln xmlns:a="http://schemas.openxmlformats.org/drawingml/2006/main" w="9525">
            <a:solidFill>
              <a:srgbClr val="2952A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5F0618-9E92-421C-B0E2-A59CD4E47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76650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Куратор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BB1AB7-BCBA-4FF5-94F1-420F154F8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038600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вопросы, проверки, риски слушателей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09AB1A-F638-4C17-8138-797E416EE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781300"/>
            <a:ext cx="2343150" cy="179070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5AD8D2-BDE8-42F9-AC27-1B8E9D9A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0480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57A"/>
          </a:solidFill>
          <a:ln xmlns:a="http://schemas.openxmlformats.org/drawingml/2006/main" w="9525">
            <a:solidFill>
              <a:srgbClr val="00857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B08E81-A3D0-4853-8C3A-175B01B90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676650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Супер-куратор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A5024E-E0D0-4FAD-B238-7B3290B05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038600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нагрузка, распределение, риски потоков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95C1CC-AF0A-4F54-87F9-308CE679F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991100"/>
            <a:ext cx="8648700" cy="647700"/>
          </a:xfrm>
          <a:prstGeom xmlns:a="http://schemas.openxmlformats.org/drawingml/2006/main" prst="roundRect">
            <a:avLst>
              <a:gd name="adj" fmla="val 32353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9525">
            <a:solidFill>
              <a:srgbClr val="D9E2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BE00A5-3DF9-4B80-850C-1825800DF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16255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A4494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A4494"/>
                </a:solidFill>
                <a:latin typeface="Aptos"/>
                <a:ea typeface="Aptos"/>
                <a:cs typeface="Aptos"/>
              </a:rPr>
              <a:t>Результат для заказчика: меньше ручной координации, больше видимости по прогрессу, рискам и итогам обучения.</a:t>
            </a:r>
          </a:p>
        </p:txBody>
      </p:sp>
    </p:spTree>
    <p:extLst>
      <p:ext uri="{BB962C8B-B14F-4D97-AF65-F5344CB8AC3E}">
        <p14:creationId xmlns:p14="http://schemas.microsoft.com/office/powerpoint/2010/main" val="17959670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9A3A30A-0D4F-429B-8690-88CAB7E0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92E86A-7187-4B3D-8218-1AE577C05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AI Strategic Academy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5101A9-0D71-4A05-BE13-93C92EDCC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64008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8A94A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A94A6"/>
                </a:solidFill>
                <a:latin typeface="Aptos"/>
                <a:ea typeface="Aptos"/>
                <a:cs typeface="Aptos"/>
              </a:rPr>
              <a:t>Документы продукта + готовность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CCBF6A-9D0C-4BAB-95DE-22790E3E2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008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eyebrow-pill">
            <a:extLst xmlns:a="http://schemas.openxmlformats.org/drawingml/2006/main">
              <a:ext uri="{FF2B5EF4-FFF2-40B4-BE49-F238E27FC236}">
                <a16:creationId xmlns:a16="http://schemas.microsoft.com/office/drawing/2014/main" id="{2F71037D-C00C-4DEC-A2DA-2E0216EE3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2190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9525">
            <a:solidFill>
              <a:srgbClr val="D9E2F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A449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A4494"/>
                </a:solidFill>
                <a:latin typeface="Aptos"/>
                <a:ea typeface="Aptos"/>
                <a:cs typeface="Aptos"/>
              </a:rPr>
              <a:t>КАБИНЕТ ЗАКАЗЧИКА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E4FFEB6-4BA3-4F3D-A32F-5C90FFAD4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5850"/>
            <a:ext cx="809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Заказчик видит результат, не вмешиваясь в учебный процесс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87C1D13-DCFC-45D7-8A17-67707D0D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Роль заказчика-наблюдателя создана для внешней прозрачности: доступ только на чтение к разрешенным проектам и потокам.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644203-2A1C-455E-AB42-D20F297FB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857750" cy="3028950"/>
          </a:xfrm>
          <a:prstGeom xmlns:a="http://schemas.openxmlformats.org/drawingml/2006/main" prst="roundRect">
            <a:avLst>
              <a:gd name="adj" fmla="val 88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605D3B-A191-409C-A021-84D78FFD8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384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A4494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A4494"/>
                </a:solidFill>
                <a:latin typeface="Aptos Display"/>
                <a:ea typeface="Aptos Display"/>
                <a:cs typeface="Aptos Display"/>
              </a:rPr>
              <a:t>Заказчик-наблюдатель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B695FE-CAD9-4309-915A-DAFD04145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766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роль только на чтение для клиента или представителя проекта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61D4AE-7E16-4C81-8754-B76929AD9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766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3FF"/>
          </a:solidFill>
          <a:ln xmlns:a="http://schemas.openxmlformats.org/drawingml/2006/main" w="9525">
            <a:solidFill>
              <a:srgbClr val="1A449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65337E-FD39-49A5-BD53-3BA20BCC7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48100"/>
            <a:ext cx="3295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дашборд проекта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52E062-F7C7-478D-86A3-851C50BD7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767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3FF"/>
          </a:solidFill>
          <a:ln xmlns:a="http://schemas.openxmlformats.org/drawingml/2006/main" w="9525">
            <a:solidFill>
              <a:srgbClr val="1A449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44A42C-0FF3-419F-A310-188E3D4DD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48150"/>
            <a:ext cx="3295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прогресс по потокам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7FB05E-8187-4B39-8A43-7803D4B52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767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3FF"/>
          </a:solidFill>
          <a:ln xmlns:a="http://schemas.openxmlformats.org/drawingml/2006/main" w="9525">
            <a:solidFill>
              <a:srgbClr val="1A449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64BEFD-C54A-4682-9F46-1C2D4C9D8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48200"/>
            <a:ext cx="3295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отчеты по разрешенной области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0F1A47-CD49-498D-9382-038058F20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768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3FF"/>
          </a:solidFill>
          <a:ln xmlns:a="http://schemas.openxmlformats.org/drawingml/2006/main" w="9525">
            <a:solidFill>
              <a:srgbClr val="1A449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D310CC-0EB0-4432-9BD2-FB45ABBB7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48250"/>
            <a:ext cx="3295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сертификаты слушателей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D37C08-04EF-456B-BAFC-6540C2BBA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24150"/>
            <a:ext cx="4343400" cy="2476500"/>
          </a:xfrm>
          <a:prstGeom xmlns:a="http://schemas.openxmlformats.org/drawingml/2006/main" prst="roundRect">
            <a:avLst>
              <a:gd name="adj" fmla="val 10769"/>
            </a:avLst>
          </a:prstGeom>
          <a:solidFill xmlns:a="http://schemas.openxmlformats.org/drawingml/2006/main">
            <a:srgbClr val="FBFFFD"/>
          </a:solidFill>
          <a:ln xmlns:a="http://schemas.openxmlformats.org/drawingml/2006/main" w="9525">
            <a:solidFill>
              <a:srgbClr val="D7DE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04C87A-57FA-4AF4-8B7C-F690DEEFF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861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C2413B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C2413B"/>
                </a:solidFill>
                <a:latin typeface="Aptos Display"/>
                <a:ea typeface="Aptos Display"/>
                <a:cs typeface="Aptos Display"/>
              </a:rPr>
              <a:t>Нельзя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6B0E6B-4B2E-4FF5-9397-56F1872D8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861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1F1"/>
          </a:solidFill>
          <a:ln xmlns:a="http://schemas.openxmlformats.org/drawingml/2006/main" w="9525">
            <a:solidFill>
              <a:srgbClr val="C2413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AFAD0A-C33C-4F50-BB9A-8D914429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5760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редактировать курсы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727B38-0CAB-4698-81F1-895F64867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0481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1F1"/>
          </a:solidFill>
          <a:ln xmlns:a="http://schemas.openxmlformats.org/drawingml/2006/main" w="9525">
            <a:solidFill>
              <a:srgbClr val="C2413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B23349-716C-420C-9774-7B447BAE8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01955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менять пользователей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21C80B-1F59-4C7D-AF1D-A5D30E7FC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4100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1F1"/>
          </a:solidFill>
          <a:ln xmlns:a="http://schemas.openxmlformats.org/drawingml/2006/main" w="9525">
            <a:solidFill>
              <a:srgbClr val="C2413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3B5E9D-1697-42F5-8A3B-6DCBDF936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38150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ставить оценки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83FD0C-7F2D-46C7-BCFE-CD39D7DC2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7720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1F1"/>
          </a:solidFill>
          <a:ln xmlns:a="http://schemas.openxmlformats.org/drawingml/2006/main" w="9525">
            <a:solidFill>
              <a:srgbClr val="C2413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5F7003-8BFD-4F4F-A0C7-6E6AF97BC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74345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влиять на ход обучения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023AF9-E0D6-46DF-8BD2-52193702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353050"/>
            <a:ext cx="17145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B5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прозрачность без риска</a:t>
            </a:r>
          </a:p>
        </p:txBody>
      </p:sp>
    </p:spTree>
    <p:extLst>
      <p:ext uri="{BB962C8B-B14F-4D97-AF65-F5344CB8AC3E}">
        <p14:creationId xmlns:p14="http://schemas.microsoft.com/office/powerpoint/2010/main" val="5174680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F2DA722-E57B-4CD3-B1CF-7CBD247EE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F74BA7-9BC1-4008-89A8-2FA54B72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AI Strategic Academy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0FCA67-5398-4C13-A4C7-55F03503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64008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8A94A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A94A6"/>
                </a:solidFill>
                <a:latin typeface="Aptos"/>
                <a:ea typeface="Aptos"/>
                <a:cs typeface="Aptos"/>
              </a:rPr>
              <a:t>Документы продукта + спецификация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A9EF15-4DAC-4FEE-ACFD-5B1CA1165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008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eyebrow-pill">
            <a:extLst xmlns:a="http://schemas.openxmlformats.org/drawingml/2006/main">
              <a:ext uri="{FF2B5EF4-FFF2-40B4-BE49-F238E27FC236}">
                <a16:creationId xmlns:a16="http://schemas.microsoft.com/office/drawing/2014/main" id="{3C59D9BD-69CB-460D-B9A9-B559438E3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8573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9525">
            <a:solidFill>
              <a:srgbClr val="D9E2F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A449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A4494"/>
                </a:solidFill>
                <a:latin typeface="Aptos"/>
                <a:ea typeface="Aptos"/>
                <a:cs typeface="Aptos"/>
              </a:rPr>
              <a:t>СОПРОВОЖДЕНИЕ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8ABFD1E-C8F2-48B3-A360-3FD565126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5850"/>
            <a:ext cx="838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Кураторская модель снижает риск выпадения слушателей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7B58BA7-D312-4446-AC8A-A5F66CCB9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Платформа показывает операционной команде вопросы, задания, дедлайны и риски до того, как проблема станет отчетным провалом.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6206FF-662F-4AF0-A488-D5274FFA6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62250"/>
            <a:ext cx="2000250" cy="1352550"/>
          </a:xfrm>
          <a:prstGeom xmlns:a="http://schemas.openxmlformats.org/drawingml/2006/main" prst="roundRect">
            <a:avLst>
              <a:gd name="adj" fmla="val 16901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9525">
            <a:solidFill>
              <a:srgbClr val="D9E2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BC7869-06D0-48AC-83A1-AD158A363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86100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A4494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A4494"/>
                </a:solidFill>
                <a:latin typeface="Aptos Display"/>
                <a:ea typeface="Aptos Display"/>
                <a:cs typeface="Aptos Display"/>
              </a:rPr>
              <a:t>Вопрос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659379-E9F9-4844-8812-E93320E49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86150"/>
            <a:ext cx="1543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из контекста урока</a:t>
            </a:r>
          </a:p>
        </p:txBody>
      </p:sp>
      <p:sp>
        <p:nvSpPr>
          <p:cNvPr id="11" name="connector">
            <a:extLst xmlns:a="http://schemas.openxmlformats.org/drawingml/2006/main">
              <a:ext uri="{FF2B5EF4-FFF2-40B4-BE49-F238E27FC236}">
                <a16:creationId xmlns:a16="http://schemas.microsoft.com/office/drawing/2014/main" id="{09013E1D-9C77-4700-BA68-04F3593D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438525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A449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60F786-C6DE-493D-94AC-AEF45EC6F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62250"/>
            <a:ext cx="2000250" cy="1352550"/>
          </a:xfrm>
          <a:prstGeom xmlns:a="http://schemas.openxmlformats.org/drawingml/2006/main" prst="roundRect">
            <a:avLst>
              <a:gd name="adj" fmla="val 16901"/>
            </a:avLst>
          </a:prstGeom>
          <a:solidFill xmlns:a="http://schemas.openxmlformats.org/drawingml/2006/main">
            <a:srgbClr val="E8F7F3"/>
          </a:solidFill>
          <a:ln xmlns:a="http://schemas.openxmlformats.org/drawingml/2006/main" w="9525">
            <a:solidFill>
              <a:srgbClr val="B9E6D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CAE13D-FCB0-45ED-9FE1-3E41B7A7D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086100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6B5E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06B5E"/>
                </a:solidFill>
                <a:latin typeface="Aptos Display"/>
                <a:ea typeface="Aptos Display"/>
                <a:cs typeface="Aptos Display"/>
              </a:rPr>
              <a:t>Очередь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F08C0B-5219-409C-BE35-53C40418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486150"/>
            <a:ext cx="1543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куратор видит SLA</a:t>
            </a:r>
          </a:p>
        </p:txBody>
      </p:sp>
      <p:sp>
        <p:nvSpPr>
          <p:cNvPr id="15" name="connector">
            <a:extLst xmlns:a="http://schemas.openxmlformats.org/drawingml/2006/main">
              <a:ext uri="{FF2B5EF4-FFF2-40B4-BE49-F238E27FC236}">
                <a16:creationId xmlns:a16="http://schemas.microsoft.com/office/drawing/2014/main" id="{CA7BA7A7-6E56-49A1-B9D5-1A82D0A65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438525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A449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547917-C5FD-4689-A473-F170E435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62250"/>
            <a:ext cx="2000250" cy="1352550"/>
          </a:xfrm>
          <a:prstGeom xmlns:a="http://schemas.openxmlformats.org/drawingml/2006/main" prst="roundRect">
            <a:avLst>
              <a:gd name="adj" fmla="val 16901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9525">
            <a:solidFill>
              <a:srgbClr val="D9E2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9D5AE5-77A8-4523-8F81-38E6E08F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86100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A4494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A4494"/>
                </a:solidFill>
                <a:latin typeface="Aptos Display"/>
                <a:ea typeface="Aptos Display"/>
                <a:cs typeface="Aptos Display"/>
              </a:rPr>
              <a:t>Ответ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784B2B-F362-49FC-8320-0185F8253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86150"/>
            <a:ext cx="1543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или передача преподавателю</a:t>
            </a:r>
          </a:p>
        </p:txBody>
      </p:sp>
      <p:sp>
        <p:nvSpPr>
          <p:cNvPr id="19" name="connector">
            <a:extLst xmlns:a="http://schemas.openxmlformats.org/drawingml/2006/main">
              <a:ext uri="{FF2B5EF4-FFF2-40B4-BE49-F238E27FC236}">
                <a16:creationId xmlns:a16="http://schemas.microsoft.com/office/drawing/2014/main" id="{C070D630-4030-4A2E-8736-A1EE5E46A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38525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A449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7AA455-A25D-4D8B-A15B-90E5A04A9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62250"/>
            <a:ext cx="2000250" cy="1352550"/>
          </a:xfrm>
          <a:prstGeom xmlns:a="http://schemas.openxmlformats.org/drawingml/2006/main" prst="roundRect">
            <a:avLst>
              <a:gd name="adj" fmla="val 16901"/>
            </a:avLst>
          </a:prstGeom>
          <a:solidFill xmlns:a="http://schemas.openxmlformats.org/drawingml/2006/main">
            <a:srgbClr val="E8F7F3"/>
          </a:solidFill>
          <a:ln xmlns:a="http://schemas.openxmlformats.org/drawingml/2006/main" w="9525">
            <a:solidFill>
              <a:srgbClr val="B9E6D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F1DBF1-1A4E-4E60-862F-D31FD5461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086100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6B5E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06B5E"/>
                </a:solidFill>
                <a:latin typeface="Aptos Display"/>
                <a:ea typeface="Aptos Display"/>
                <a:cs typeface="Aptos Display"/>
              </a:rPr>
              <a:t>Риск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942872-35CA-454C-BF97-E4D819F37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486150"/>
            <a:ext cx="1543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если прогресс проседает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F85677-FC4C-410A-92C5-FE55B9791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86300"/>
            <a:ext cx="9410700" cy="914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3DCED0-7ABB-41DE-A565-8D4F53C74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97205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Супер-куратор видит нагрузку и проблемы по потокам, а куратор работает со своими закрепленными слушателями.</a:t>
            </a:r>
          </a:p>
        </p:txBody>
      </p:sp>
    </p:spTree>
    <p:extLst>
      <p:ext uri="{BB962C8B-B14F-4D97-AF65-F5344CB8AC3E}">
        <p14:creationId xmlns:p14="http://schemas.microsoft.com/office/powerpoint/2010/main" val="17629970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79D954F-3249-4DF2-9CC6-B7DF6E5D6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1F24A3-5AFA-4A74-A84B-DC1DD4655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AI Strategic Academy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C6DDBE-103C-4C46-82ED-6F20FCFF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64008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8A94A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A94A6"/>
                </a:solidFill>
                <a:latin typeface="Aptos"/>
                <a:ea typeface="Aptos"/>
                <a:cs typeface="Aptos"/>
              </a:rPr>
              <a:t>Документы продукта + спецификация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564206-7411-402B-8BD0-349B6D746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008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5" name="eyebrow-pill">
            <a:extLst xmlns:a="http://schemas.openxmlformats.org/drawingml/2006/main">
              <a:ext uri="{FF2B5EF4-FFF2-40B4-BE49-F238E27FC236}">
                <a16:creationId xmlns:a16="http://schemas.microsoft.com/office/drawing/2014/main" id="{823F20F6-045F-4017-9FB9-85D5B7F05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23336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9525">
            <a:solidFill>
              <a:srgbClr val="D9E2F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A449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A4494"/>
                </a:solidFill>
                <a:latin typeface="Aptos"/>
                <a:ea typeface="Aptos"/>
                <a:cs typeface="Aptos"/>
              </a:rPr>
              <a:t>ОТЧЕТЫ И АНАЛИТИКА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0241C9B-667E-44FB-939A-2F17867B6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5850"/>
            <a:ext cx="8667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Отчеты превращают обучение в управляемую картину для каждой роли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E4E649A-80DA-4FAB-B455-7C74D10EF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Данные фильтруются по полномочиям: заказчик видит только разрешенные проекты и потоки, команда академии видит свою зону ответственности.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29E47F-AF14-4AB8-9A1E-51844461D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05100"/>
            <a:ext cx="2286000" cy="1619250"/>
          </a:xfrm>
          <a:prstGeom xmlns:a="http://schemas.openxmlformats.org/drawingml/2006/main" prst="roundRect">
            <a:avLst>
              <a:gd name="adj" fmla="val 12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24A843-0DCC-448F-8F4B-41E7C14DA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9085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A4494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A4494"/>
                </a:solidFill>
                <a:latin typeface="Aptos Display"/>
                <a:ea typeface="Aptos Display"/>
                <a:cs typeface="Aptos Display"/>
              </a:rPr>
              <a:t>Админ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0F8144-50D2-4016-BABE-B7E4CB74F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52800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вся академия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C5BB54-2E29-443B-97C1-D640ACA1E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29050"/>
            <a:ext cx="1676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BBD916-73D1-416E-8A1A-9F7F63C59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29050"/>
            <a:ext cx="14097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44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C97392-AB7F-46F2-8627-B395CBD13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705100"/>
            <a:ext cx="2286000" cy="1619250"/>
          </a:xfrm>
          <a:prstGeom xmlns:a="http://schemas.openxmlformats.org/drawingml/2006/main" prst="roundRect">
            <a:avLst>
              <a:gd name="adj" fmla="val 12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6A31C6-56D5-4FFE-8BE0-3974745C7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99085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A4494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A4494"/>
                </a:solidFill>
                <a:latin typeface="Aptos Display"/>
                <a:ea typeface="Aptos Display"/>
                <a:cs typeface="Aptos Display"/>
              </a:rPr>
              <a:t>Преподаватель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CE5062-D34E-49E2-8883-B3509F78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352800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свои курсы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CBE977-B1BC-4170-BDA4-814E1A94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829050"/>
            <a:ext cx="1676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121B84-6DB8-4EDB-A2F5-DFAD68AE8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829050"/>
            <a:ext cx="11239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44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8EE0DA-3440-4371-A45E-13CA4A08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05100"/>
            <a:ext cx="2286000" cy="1619250"/>
          </a:xfrm>
          <a:prstGeom xmlns:a="http://schemas.openxmlformats.org/drawingml/2006/main" prst="roundRect">
            <a:avLst>
              <a:gd name="adj" fmla="val 12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595CA5-1AC8-41C6-9EE1-15462C38F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9085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A4494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A4494"/>
                </a:solidFill>
                <a:latin typeface="Aptos Display"/>
                <a:ea typeface="Aptos Display"/>
                <a:cs typeface="Aptos Display"/>
              </a:rPr>
              <a:t>Куратор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F5E6D0-59C4-4112-949E-406D29812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52800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закрепленные слушатели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35CB0B-07B5-422A-8DF3-E022A4B57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29050"/>
            <a:ext cx="1676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C24B47-6C8C-4D8B-9D8C-ECBC43DBF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29050"/>
            <a:ext cx="13144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44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B97DDE-DCDF-4CF3-8D75-52D510760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705100"/>
            <a:ext cx="2286000" cy="1619250"/>
          </a:xfrm>
          <a:prstGeom xmlns:a="http://schemas.openxmlformats.org/drawingml/2006/main" prst="roundRect">
            <a:avLst>
              <a:gd name="adj" fmla="val 12941"/>
            </a:avLst>
          </a:prstGeom>
          <a:solidFill xmlns:a="http://schemas.openxmlformats.org/drawingml/2006/main">
            <a:srgbClr val="E8F7F3"/>
          </a:solidFill>
          <a:ln xmlns:a="http://schemas.openxmlformats.org/drawingml/2006/main" w="9525">
            <a:solidFill>
              <a:srgbClr val="B9E6D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31946A-7883-447A-9327-835727EAA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99085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6B5E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06B5E"/>
                </a:solidFill>
                <a:latin typeface="Aptos Display"/>
                <a:ea typeface="Aptos Display"/>
                <a:cs typeface="Aptos Display"/>
              </a:rPr>
              <a:t>Заказчик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AD29AD-CCBF-4EA9-BB0B-63543F309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352800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разрешенные потоки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83F406-D699-4869-BA6E-38463BF9C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829050"/>
            <a:ext cx="1676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1D5C3A-97F7-461F-A33C-32785766E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829050"/>
            <a:ext cx="15621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B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4E9E09-5ED3-4F3A-83EE-0ED74B298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819650"/>
            <a:ext cx="8039100" cy="8572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02BD30-559B-4520-B17B-1C2C030F4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029200"/>
            <a:ext cx="7277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Экспорт: CSV, Excel (XLSX), PDF. Ценность: быстрые управленческие решения без ручной сборки статуса.</a:t>
            </a:r>
          </a:p>
        </p:txBody>
      </p:sp>
    </p:spTree>
    <p:extLst>
      <p:ext uri="{BB962C8B-B14F-4D97-AF65-F5344CB8AC3E}">
        <p14:creationId xmlns:p14="http://schemas.microsoft.com/office/powerpoint/2010/main" val="5250175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F8429A3-0916-4EFF-8EE2-27627E294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20CD80-AFB4-48DD-87CF-DE7CECDA8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AI Strategic Academy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B50047-3F1E-4939-8C83-72C1048DA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64008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8A94A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A94A6"/>
                </a:solidFill>
                <a:latin typeface="Aptos"/>
                <a:ea typeface="Aptos"/>
                <a:cs typeface="Aptos"/>
              </a:rPr>
              <a:t>Документы продукта + сертификат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8A834A-3E2A-481B-9CAF-5BBC0CA12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008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" name="eyebrow-pill">
            <a:extLst xmlns:a="http://schemas.openxmlformats.org/drawingml/2006/main">
              <a:ext uri="{FF2B5EF4-FFF2-40B4-BE49-F238E27FC236}">
                <a16:creationId xmlns:a16="http://schemas.microsoft.com/office/drawing/2014/main" id="{E22A93A0-B199-472F-A56E-4C743D33C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2857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9525">
            <a:solidFill>
              <a:srgbClr val="D9E2F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A449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A4494"/>
                </a:solidFill>
                <a:latin typeface="Aptos"/>
                <a:ea typeface="Aptos"/>
                <a:cs typeface="Aptos"/>
              </a:rPr>
              <a:t>ПОДТВЕРЖДЕНИЕ РЕЗУЛЬТАТА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446DFCA-9B36-4652-88E8-8274D468B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5850"/>
            <a:ext cx="857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Сертификат становится проверяемым итогом обучения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5F19CC3-70DC-4FA9-85CB-B98D4488C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Платформа связывает сертификат со слушателем, курсом и зачислением, а публичная проверка подтверждает валидность без раскрытия лишних данных.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2A4B58-F192-465B-BFDC-3972B53E4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4991100" cy="3105150"/>
          </a:xfrm>
          <a:prstGeom xmlns:a="http://schemas.openxmlformats.org/drawingml/2006/main" prst="roundRect">
            <a:avLst>
              <a:gd name="adj" fmla="val 92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649021-BFD6-4BB7-AFB3-500AD182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765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A4494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A4494"/>
                </a:solidFill>
                <a:latin typeface="Aptos Display"/>
                <a:ea typeface="Aptos Display"/>
                <a:cs typeface="Aptos Display"/>
              </a:rPr>
              <a:t>Сертификат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169E12-E3B9-44F3-AA05-1D171FB0B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956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PDF-выдача и скачивание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2ff40fa7b14d6c"/>
          <a:stretch xmlns:a="http://schemas.openxmlformats.org/drawingml/2006/main"/>
        </p:blipFill>
        <p:spPr>
          <a:xfrm xmlns:a="http://schemas.openxmlformats.org/drawingml/2006/main">
            <a:off x="3924300" y="2895600"/>
            <a:ext cx="1200150" cy="1200150"/>
          </a:xfrm>
          <a:prstGeom xmlns:a="http://schemas.openxmlformats.org/drawingml/2006/main" prst="ellipse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344C74-2388-40AA-9ADE-1D7102303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290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F3"/>
          </a:solidFill>
          <a:ln xmlns:a="http://schemas.openxmlformats.org/drawingml/2006/main" w="9525">
            <a:solidFill>
              <a:srgbClr val="00857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A73C89-F075-4F2D-A74F-4940B3EFA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00500"/>
            <a:ext cx="358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уникальный номер сертификата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A9B87E-5F79-4782-9F5B-E3662888D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910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F3"/>
          </a:solidFill>
          <a:ln xmlns:a="http://schemas.openxmlformats.org/drawingml/2006/main" w="9525">
            <a:solidFill>
              <a:srgbClr val="00857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442B31-0FC3-4581-97B7-261DE3DBD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62450"/>
            <a:ext cx="358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публичный код проверки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D1C1BC-AC0D-42A7-AB7A-378C34C91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529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F3"/>
          </a:solidFill>
          <a:ln xmlns:a="http://schemas.openxmlformats.org/drawingml/2006/main" w="9525">
            <a:solidFill>
              <a:srgbClr val="00857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84F547-0996-4253-A2EB-4AC30894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24400"/>
            <a:ext cx="358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проверка валидности без внутренних данных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B46990-8E49-41E9-AB88-FFB22A0B8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149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F3"/>
          </a:solidFill>
          <a:ln xmlns:a="http://schemas.openxmlformats.org/drawingml/2006/main" w="9525">
            <a:solidFill>
              <a:srgbClr val="00857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822DA7-38F6-4D6B-B597-C4C67372A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86350"/>
            <a:ext cx="358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видимость для слушателя и заказчика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91AC9D-831A-4373-8C13-7CFC75D3B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76550"/>
            <a:ext cx="3905250" cy="2190750"/>
          </a:xfrm>
          <a:prstGeom xmlns:a="http://schemas.openxmlformats.org/drawingml/2006/main" prst="roundRect">
            <a:avLst>
              <a:gd name="adj" fmla="val 12174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9525">
            <a:solidFill>
              <a:srgbClr val="D9E2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6D10D3-22DB-41F1-8BFE-17521E178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429000"/>
            <a:ext cx="3105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A4494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A4494"/>
                </a:solidFill>
                <a:latin typeface="Aptos Display"/>
                <a:ea typeface="Aptos Display"/>
                <a:cs typeface="Aptos Display"/>
              </a:rPr>
              <a:t>Для заказчика это не просто финальный файл, а доказуемая связка результата с потоком обучения.</a:t>
            </a:r>
          </a:p>
        </p:txBody>
      </p:sp>
    </p:spTree>
    <p:extLst>
      <p:ext uri="{BB962C8B-B14F-4D97-AF65-F5344CB8AC3E}">
        <p14:creationId xmlns:p14="http://schemas.microsoft.com/office/powerpoint/2010/main" val="114128214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FFC1BBA-7B4C-40A7-8653-6DA633562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492A92-8124-4DC6-A552-4F0A2121A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AI Strategic Academy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38FD28-2E70-4160-8BB7-E93A6B8B4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64008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8A94A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A94A6"/>
                </a:solidFill>
                <a:latin typeface="Aptos"/>
                <a:ea typeface="Aptos"/>
                <a:cs typeface="Aptos"/>
              </a:rPr>
              <a:t>Документы продукта + готовность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21C29B-368B-4847-A6BD-ADF04625C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008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5" name="eyebrow-pill">
            <a:extLst xmlns:a="http://schemas.openxmlformats.org/drawingml/2006/main">
              <a:ext uri="{FF2B5EF4-FFF2-40B4-BE49-F238E27FC236}">
                <a16:creationId xmlns:a16="http://schemas.microsoft.com/office/drawing/2014/main" id="{B2993102-D687-4CBD-9DE2-1D4FD7D21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619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9525">
            <a:solidFill>
              <a:srgbClr val="D9E2F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A449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A4494"/>
                </a:solidFill>
                <a:latin typeface="Aptos"/>
                <a:ea typeface="Aptos"/>
                <a:cs typeface="Aptos"/>
              </a:rPr>
              <a:t>БЕЗОПАСНОСТЬ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AADF050-DBFF-4996-9735-9364CAF93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5850"/>
            <a:ext cx="809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Контроль доступа встроен в продуктовую модель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97AFCC0-C7DC-4E77-B96D-BAD685EF6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Платформа закрыта по умолчанию: роли, сессии устройств, аудит и критические уведомления работают как часть учебного процесса.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CC97E0-8EF6-4F12-B400-502F5AD53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4743450" cy="10668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FF8E6F-7C01-44A2-8741-94DB8AF38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95600"/>
            <a:ext cx="432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6B5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6B5E"/>
                </a:solidFill>
                <a:latin typeface="Aptos"/>
                <a:ea typeface="Aptos"/>
                <a:cs typeface="Aptos"/>
              </a:rPr>
              <a:t>контроль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11CAFF-108F-440C-B416-9E78ACAD4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81350"/>
            <a:ext cx="432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Закрытая регистрация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6697A5-49AE-4F0C-B1D8-7751848C8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90900"/>
            <a:ext cx="432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доступ выдает академия, публичного маркетплейса нет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078C19-0323-4E8D-BEA7-63E81B1DA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24150"/>
            <a:ext cx="4743450" cy="10668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BFFFD"/>
          </a:solidFill>
          <a:ln xmlns:a="http://schemas.openxmlformats.org/drawingml/2006/main" w="9525">
            <a:solidFill>
              <a:srgbClr val="D7DE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E2472C-FFF3-4D53-9EA6-4840E34EE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95600"/>
            <a:ext cx="432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6B5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6B5E"/>
                </a:solidFill>
                <a:latin typeface="Aptos"/>
                <a:ea typeface="Aptos"/>
                <a:cs typeface="Aptos"/>
              </a:rPr>
              <a:t>контроль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D582B2-8647-4952-9C3E-89AFED231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81350"/>
            <a:ext cx="432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Ролевой доступ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BD0618-30D6-477E-9E1F-AAE9A16B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90900"/>
            <a:ext cx="432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6 ролей и серверная проверка прав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31DABD-61A8-4997-812E-47DEE48A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4743450" cy="10668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3A4C18-68DC-49DB-AD3B-2008D1DE5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86250"/>
            <a:ext cx="432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6B5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6B5E"/>
                </a:solidFill>
                <a:latin typeface="Aptos"/>
                <a:ea typeface="Aptos"/>
                <a:cs typeface="Aptos"/>
              </a:rPr>
              <a:t>контроль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3C2E52-C9C5-42C1-B58B-C2F13E5FE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72000"/>
            <a:ext cx="432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2 устройства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8784C3-5628-44D8-BC7D-9A979A39E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81550"/>
            <a:ext cx="432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лимит активных сессий устройств на пользователя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B549FC-9C79-4088-B185-84B5BB540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114800"/>
            <a:ext cx="4743450" cy="10668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BFFFD"/>
          </a:solidFill>
          <a:ln xmlns:a="http://schemas.openxmlformats.org/drawingml/2006/main" w="9525">
            <a:solidFill>
              <a:srgbClr val="D7DE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C1C48C-90A1-4B4B-9604-67D9B0F2F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86250"/>
            <a:ext cx="432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6B5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6B5E"/>
                </a:solidFill>
                <a:latin typeface="Aptos"/>
                <a:ea typeface="Aptos"/>
                <a:cs typeface="Aptos"/>
              </a:rPr>
              <a:t>контроль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AC5F9E-FBBC-454D-B7FE-C7C9FB272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72000"/>
            <a:ext cx="432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Аудит и уведомления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66604A-F72F-4260-99C9-EBDB7394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81550"/>
            <a:ext cx="432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критические события фиксируются независимо от настроек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496CA7-AFDE-4CA0-B59C-0D36418B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600700"/>
            <a:ext cx="7810500" cy="419100"/>
          </a:xfrm>
          <a:prstGeom xmlns:a="http://schemas.openxmlformats.org/drawingml/2006/main" prst="roundRect">
            <a:avLst>
              <a:gd name="adj" fmla="val 40909"/>
            </a:avLst>
          </a:prstGeom>
          <a:solidFill xmlns:a="http://schemas.openxmlformats.org/drawingml/2006/main">
            <a:srgbClr val="FFF7DF"/>
          </a:solidFill>
          <a:ln xmlns:a="http://schemas.openxmlformats.org/drawingml/2006/main" w="9525">
            <a:solidFill>
              <a:srgbClr val="F4D48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83D91C-3F01-46AD-AFC7-E827E546D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715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A550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A5500"/>
                </a:solidFill>
                <a:latin typeface="Aptos"/>
                <a:ea typeface="Aptos"/>
                <a:cs typeface="Aptos"/>
              </a:rPr>
              <a:t>Коммерческий путь запуска: пилот, проверка целевого окружения, затем масштабирование.</a:t>
            </a:r>
          </a:p>
        </p:txBody>
      </p:sp>
    </p:spTree>
    <p:extLst>
      <p:ext uri="{BB962C8B-B14F-4D97-AF65-F5344CB8AC3E}">
        <p14:creationId xmlns:p14="http://schemas.microsoft.com/office/powerpoint/2010/main" val="110420408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9BDBA71-F74A-4158-A175-0913BBD00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3BAEE5-26EF-4257-87D3-0F4AF8216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AI Strategic Academy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09538E-205F-453A-8120-7785122E4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64008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8A94A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A94A6"/>
                </a:solidFill>
                <a:latin typeface="Aptos"/>
                <a:ea typeface="Aptos"/>
                <a:cs typeface="Aptos"/>
              </a:rPr>
              <a:t>Документы продукта + внедрение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82E20A-31A9-4D73-989F-EFFF3F7D7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008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5" name="eyebrow-pill">
            <a:extLst xmlns:a="http://schemas.openxmlformats.org/drawingml/2006/main">
              <a:ext uri="{FF2B5EF4-FFF2-40B4-BE49-F238E27FC236}">
                <a16:creationId xmlns:a16="http://schemas.microsoft.com/office/drawing/2014/main" id="{F9C7B295-4329-4E41-B06B-5DD40A0B2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9525">
            <a:solidFill>
              <a:srgbClr val="D9E2F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A449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A4494"/>
                </a:solidFill>
                <a:latin typeface="Aptos"/>
                <a:ea typeface="Aptos"/>
                <a:cs typeface="Aptos"/>
              </a:rPr>
              <a:t>ВНЕДРЕНИЕ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356A79E-D389-4B7C-A119-0518C8B3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5850"/>
            <a:ext cx="857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Следующий шаг — запустить управляемый пилот под ваш поток обучения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143CC93-EF05-4370-BF12-035B6A2E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Покупка платформы открывает путь к настройке бренда, структуры курса, ролей и кабинета заказчика без сборки процесса с нуля.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BC0C12-D27D-48FB-A5D2-4DFA5249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2247900" cy="2095500"/>
          </a:xfrm>
          <a:prstGeom xmlns:a="http://schemas.openxmlformats.org/drawingml/2006/main" prst="roundRect">
            <a:avLst>
              <a:gd name="adj" fmla="val 11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2C280F-462F-4091-9305-E30241B6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00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4494"/>
          </a:solidFill>
          <a:ln xmlns:a="http://schemas.openxmlformats.org/drawingml/2006/main" w="9525">
            <a:solidFill>
              <a:srgbClr val="1A449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F5CE97-79EA-4785-9901-D5D9E9EB9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67150"/>
            <a:ext cx="1752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Настроить бренд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3B28E6-6B48-4D81-9CEE-0B999FF87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00550"/>
            <a:ext cx="1752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название, цвета, публичные поверхности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CA7673-1643-46C7-B892-7D8013195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57500"/>
            <a:ext cx="2247900" cy="2095500"/>
          </a:xfrm>
          <a:prstGeom xmlns:a="http://schemas.openxmlformats.org/drawingml/2006/main" prst="roundRect">
            <a:avLst>
              <a:gd name="adj" fmla="val 11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DF7837-E710-4352-919B-9EB4ACEA8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200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B5E"/>
          </a:solidFill>
          <a:ln xmlns:a="http://schemas.openxmlformats.org/drawingml/2006/main" w="9525">
            <a:solidFill>
              <a:srgbClr val="006B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B2E7FC-2A16-4E72-ACFE-B6E1ABC00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867150"/>
            <a:ext cx="1752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Собрать поток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A7C240-B6C4-4E99-95CC-DC21A09BA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400550"/>
            <a:ext cx="1752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курс, модули, дедлайны, кураторы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1F82E5-0466-40F2-A8E3-8AF5F390F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57500"/>
            <a:ext cx="2247900" cy="2095500"/>
          </a:xfrm>
          <a:prstGeom xmlns:a="http://schemas.openxmlformats.org/drawingml/2006/main" prst="roundRect">
            <a:avLst>
              <a:gd name="adj" fmla="val 11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A3C200-55A3-4AA1-889B-B9C95E9C3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00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4494"/>
          </a:solidFill>
          <a:ln xmlns:a="http://schemas.openxmlformats.org/drawingml/2006/main" w="9525">
            <a:solidFill>
              <a:srgbClr val="1A449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246066-8191-478A-9207-C0F7B8476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67150"/>
            <a:ext cx="1752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Выдать доступ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F4F932-83E2-42EB-A0F5-5A9B918C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400550"/>
            <a:ext cx="1752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роли, аккаунты, инвайты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4E0EE3-4043-43F5-874B-65EA5EBB9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57500"/>
            <a:ext cx="2247900" cy="2095500"/>
          </a:xfrm>
          <a:prstGeom xmlns:a="http://schemas.openxmlformats.org/drawingml/2006/main" prst="roundRect">
            <a:avLst>
              <a:gd name="adj" fmla="val 11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2D1ACE-F73E-4B2C-AD8E-ECEE37E48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00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B5E"/>
          </a:solidFill>
          <a:ln xmlns:a="http://schemas.openxmlformats.org/drawingml/2006/main" w="9525">
            <a:solidFill>
              <a:srgbClr val="006B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B724D6-ACC4-41AC-B5EF-7661B2CB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867150"/>
            <a:ext cx="1752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Показать кабинет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BC650E-73AE-40AA-A569-74F7B233F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400550"/>
            <a:ext cx="1752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прогресс, отчеты, сертификаты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EEFC86-545A-47E5-AF6E-D9ACA04FC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00650"/>
            <a:ext cx="7429500" cy="895350"/>
          </a:xfrm>
          <a:prstGeom xmlns:a="http://schemas.openxmlformats.org/drawingml/2006/main" prst="roundRect">
            <a:avLst>
              <a:gd name="adj" fmla="val 25532"/>
            </a:avLst>
          </a:prstGeom>
          <a:solidFill xmlns:a="http://schemas.openxmlformats.org/drawingml/2006/main">
            <a:srgbClr val="1A4494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D81E61-50B6-45B9-B355-70196AF74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41020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Оплаченный курс превращается в управляемую академическую программу с видимым результатом.</a:t>
            </a:r>
          </a:p>
        </p:txBody>
      </p:sp>
    </p:spTree>
    <p:extLst>
      <p:ext uri="{BB962C8B-B14F-4D97-AF65-F5344CB8AC3E}">
        <p14:creationId xmlns:p14="http://schemas.microsoft.com/office/powerpoint/2010/main" val="13702765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2026-06-17T05:30:02.6160000Z</dcterms:created>
  <dcterms:modified xsi:type="dcterms:W3CDTF">2026-06-17T05:30:02.6160000Z</dcterms:modified>
</coreProperties>
</file>